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59" r:id="rId5"/>
    <p:sldId id="263" r:id="rId6"/>
    <p:sldId id="268" r:id="rId7"/>
    <p:sldId id="313" r:id="rId8"/>
    <p:sldId id="291" r:id="rId9"/>
    <p:sldId id="275" r:id="rId10"/>
    <p:sldId id="278" r:id="rId11"/>
    <p:sldId id="292" r:id="rId12"/>
    <p:sldId id="294" r:id="rId15"/>
    <p:sldId id="314" r:id="rId16"/>
    <p:sldId id="316" r:id="rId17"/>
    <p:sldId id="315" r:id="rId18"/>
    <p:sldId id="317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67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2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131ED-F578-4534-ADD7-67B7AB5E2C86}" type="datetimeFigureOut">
              <a:rPr lang="en-PH" smtClean="0"/>
              <a:t>22/10/2026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05F15-C73E-4C5E-83C9-59E14655671E}" type="slidenum">
              <a:rPr lang="en-PH" smtClean="0"/>
              <a:t>‹#›</a:t>
            </a:fld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microsoft.com/office/2007/relationships/hdphoto" Target="../media/hdphoto2.tiff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tiff"/><Relationship Id="rId4" Type="http://schemas.openxmlformats.org/officeDocument/2006/relationships/image" Target="../media/image2.png"/><Relationship Id="rIdSdlc" Type="http://schemas.openxmlformats.org/officeDocument/2006/relationships/image" Target="../media/sdlc_iterative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tif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176850"/>
            <a:ext cx="2202018" cy="1133796"/>
            <a:chOff x="363415" y="4850885"/>
            <a:chExt cx="3160331" cy="170231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850885"/>
              <a:ext cx="1624608" cy="1624606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1542804" y="1888620"/>
            <a:ext cx="94848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>
                <a:latin typeface="Arial Black" pitchFamily="34" charset="0"/>
              </a:rPr>
              <a:t>Auditrix</a:t>
            </a:r>
            <a:r>
              <a:rPr lang="en-US" sz="4400" b="1" dirty="0">
                <a:latin typeface="Arial Black" pitchFamily="34" charset="0"/>
              </a:rPr>
              <a:t> - A Curriculum Audit System for KSU</a:t>
            </a:r>
            <a:endParaRPr lang="en-PH" sz="4400" dirty="0">
              <a:latin typeface="Arial Black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3556" y="4162365"/>
            <a:ext cx="7603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latin typeface="Arial" charset="0"/>
                <a:cs typeface="Arial" charset="0"/>
              </a:rPr>
              <a:t>Jhonrey</a:t>
            </a:r>
            <a:r>
              <a:rPr lang="en-US" sz="2800" b="1" dirty="0">
                <a:latin typeface="Arial" charset="0"/>
                <a:cs typeface="Arial" charset="0"/>
              </a:rPr>
              <a:t> </a:t>
            </a:r>
            <a:r>
              <a:rPr lang="en-US" sz="2800" b="1" dirty="0" err="1">
                <a:latin typeface="Arial" charset="0"/>
                <a:cs typeface="Arial" charset="0"/>
              </a:rPr>
              <a:t>Binaraba</a:t>
            </a:r>
            <a:endParaRPr lang="en-PH" sz="2800" b="1" dirty="0">
              <a:latin typeface="Arial" charset="0"/>
              <a:cs typeface="Arial" charset="0"/>
            </a:endParaRPr>
          </a:p>
          <a:p>
            <a:pPr algn="ctr"/>
            <a:r>
              <a:rPr lang="en-US" sz="2800" b="1" dirty="0">
                <a:latin typeface="Arial" charset="0"/>
                <a:cs typeface="Arial" charset="0"/>
              </a:rPr>
              <a:t>Crystel </a:t>
            </a:r>
            <a:r>
              <a:rPr lang="en-US" sz="2800" b="1" dirty="0" err="1">
                <a:latin typeface="Arial" charset="0"/>
                <a:cs typeface="Arial" charset="0"/>
              </a:rPr>
              <a:t>Mae</a:t>
            </a:r>
            <a:r>
              <a:rPr lang="en-US" sz="2800" b="1" dirty="0">
                <a:latin typeface="Arial" charset="0"/>
                <a:cs typeface="Arial" charset="0"/>
              </a:rPr>
              <a:t> Dela Cueva</a:t>
            </a:r>
            <a:endParaRPr lang="en-PH" sz="2800" b="1" dirty="0">
              <a:latin typeface="Arial" charset="0"/>
              <a:cs typeface="Arial" charset="0"/>
            </a:endParaRPr>
          </a:p>
          <a:p>
            <a:pPr algn="ctr"/>
            <a:r>
              <a:rPr lang="en-US" sz="2800" b="1" dirty="0">
                <a:latin typeface="Arial" charset="0"/>
                <a:cs typeface="Arial" charset="0"/>
              </a:rPr>
              <a:t>Kenneth Christian </a:t>
            </a:r>
            <a:r>
              <a:rPr lang="en-US" sz="2800" b="1" dirty="0" err="1">
                <a:latin typeface="Arial" charset="0"/>
                <a:cs typeface="Arial" charset="0"/>
              </a:rPr>
              <a:t>Tockiapao</a:t>
            </a:r>
            <a:endParaRPr lang="en-PH" sz="2800" b="1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01" name="Title 101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VISION AND MISSION</a:t>
            </a:r>
          </a:p>
        </p:txBody>
      </p:sp>
      <p:sp>
        <p:nvSpPr>
          <p:cNvPr id="102" name="Card 102"/>
          <p:cNvSpPr/>
          <p:nvPr/>
        </p:nvSpPr>
        <p:spPr>
          <a:xfrm>
            <a:off x="685800" y="17373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100" b="1" dirty="0">
                <a:solidFill>
                  <a:srgbClr val="1F6B33"/>
                </a:solidFill>
                <a:latin typeface="Arial"/>
                <a:cs typeface="Arial"/>
              </a:rPr>
              <a:t>VISION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600" b="0" dirty="0">
                <a:solidFill>
                  <a:srgbClr val="1A1A1A"/>
                </a:solidFill>
                <a:latin typeface="Arial"/>
                <a:cs typeface="Arial"/>
              </a:rPr>
              <a:t>A globally engaged university of excellence rooted in culture and driven by innovation for sustainable and inclusive development.</a:t>
            </a:r>
          </a:p>
        </p:txBody>
      </p:sp>
      <p:sp>
        <p:nvSpPr>
          <p:cNvPr id="103" name="Card 103"/>
          <p:cNvSpPr/>
          <p:nvPr/>
        </p:nvSpPr>
        <p:spPr>
          <a:xfrm>
            <a:off x="6263640" y="17373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100" b="1" dirty="0">
                <a:solidFill>
                  <a:srgbClr val="1F6B33"/>
                </a:solidFill>
                <a:latin typeface="Arial"/>
                <a:cs typeface="Arial"/>
              </a:rPr>
              <a:t>MISSION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600" b="0" dirty="0">
                <a:solidFill>
                  <a:srgbClr val="1A1A1A"/>
                </a:solidFill>
                <a:latin typeface="Arial"/>
                <a:cs typeface="Arial"/>
              </a:rPr>
              <a:t>Provide quality education, innovative research, sustainable practices and culture-based community.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pic>
        <p:nvPicPr>
          <p:cNvPr id="9" name="Kalinga State University Hymn with Lyric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57683" y="5738183"/>
            <a:ext cx="535830" cy="53583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061855" y="419440"/>
            <a:ext cx="66598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400" dirty="0">
                <a:latin typeface="Arial Black" pitchFamily="34" charset="0"/>
              </a:rPr>
              <a:t>UNIVERSITY HYMN</a:t>
            </a:r>
          </a:p>
          <a:p>
            <a:pPr algn="ctr">
              <a:buNone/>
            </a:pPr>
            <a:r>
              <a:rPr lang="en-US" sz="2000" b="1" i="1" dirty="0">
                <a:solidFill>
                  <a:srgbClr val="0A0A0A"/>
                </a:solidFill>
                <a:effectLst/>
                <a:latin typeface="Helvetica Neue"/>
              </a:rPr>
              <a:t>“Let Humanity Prevail”</a:t>
            </a:r>
            <a:endParaRPr lang="en-US" sz="2000" b="0" i="1" dirty="0">
              <a:solidFill>
                <a:srgbClr val="0A0A0A"/>
              </a:solidFill>
              <a:effectLst/>
              <a:latin typeface="Helvetica Neue"/>
            </a:endParaRPr>
          </a:p>
          <a:p>
            <a:pPr algn="ctr">
              <a:buNone/>
            </a:pPr>
            <a:r>
              <a:rPr lang="en-US" sz="2000" b="0" i="1" dirty="0">
                <a:solidFill>
                  <a:srgbClr val="0A0A0A"/>
                </a:solidFill>
                <a:effectLst/>
                <a:latin typeface="Helvetica Neue"/>
              </a:rPr>
              <a:t>(</a:t>
            </a:r>
            <a:r>
              <a:rPr lang="en-US" sz="2000" b="0" i="1" dirty="0" err="1">
                <a:solidFill>
                  <a:srgbClr val="0A0A0A"/>
                </a:solidFill>
                <a:effectLst/>
                <a:latin typeface="Helvetica Neue"/>
              </a:rPr>
              <a:t>Pancy</a:t>
            </a:r>
            <a:r>
              <a:rPr lang="en-US" sz="2000" b="0" i="1" dirty="0">
                <a:solidFill>
                  <a:srgbClr val="0A0A0A"/>
                </a:solidFill>
                <a:effectLst/>
                <a:latin typeface="Helvetica Neue"/>
              </a:rPr>
              <a:t> Aquino &amp; Perfecto Lazo)</a:t>
            </a:r>
          </a:p>
          <a:p>
            <a:pPr algn="ctr"/>
            <a:endParaRPr lang="en-PH" sz="4400" dirty="0">
              <a:latin typeface="Arial Black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771403" y="2067709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KSU is the light of the vast Kalinga Province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Born encompassing with the breadth of the poor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Bringing forth a glamorous delight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To tinge the innocent mind of every child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Refrain: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Hail KSU I’ll sing you a song of praise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I cling to thy brow to sip the nectar of your ways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Flowing in thy streams of wisdom and truth</a:t>
            </a:r>
          </a:p>
          <a:p>
            <a:pPr algn="l"/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Pride of Kalinga Province walk on!</a:t>
            </a:r>
          </a:p>
          <a:p>
            <a:pPr marL="0" indent="0">
              <a:buNone/>
            </a:pPr>
            <a:endParaRPr lang="en-PH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6144151" y="2085731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When humanity’s understanding prevails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Thy off spring would proudly stand with palms on their breast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To pour out their golden thought ablaze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Where dreams, now realities of culture and birth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(Repeat Refrain)</a:t>
            </a:r>
          </a:p>
          <a:p>
            <a:pPr algn="l">
              <a:buNone/>
            </a:pPr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Flowing in thy streams of wisdom and truth</a:t>
            </a:r>
          </a:p>
          <a:p>
            <a:pPr algn="l"/>
            <a:r>
              <a:rPr lang="en-US" b="0" i="1" dirty="0">
                <a:solidFill>
                  <a:srgbClr val="0A0A0A"/>
                </a:solidFill>
                <a:effectLst/>
                <a:latin typeface="Helvetica Neue"/>
              </a:rPr>
              <a:t>Hail, Kalinga State University walk on!</a:t>
            </a:r>
          </a:p>
          <a:p>
            <a:endParaRPr lang="en-P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2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04" name="Title 104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BACKGROUND OF THE STUDY</a:t>
            </a:r>
          </a:p>
        </p:txBody>
      </p:sp>
      <p:sp>
        <p:nvSpPr>
          <p:cNvPr id="105" name="Badge 105"/>
          <p:cNvSpPr/>
          <p:nvPr/>
        </p:nvSpPr>
        <p:spPr>
          <a:xfrm>
            <a:off x="685800" y="202996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6" name="Item 106"/>
          <p:cNvSpPr txBox="1"/>
          <p:nvPr/>
        </p:nvSpPr>
        <p:spPr>
          <a:xfrm>
            <a:off x="1417320" y="1691640"/>
            <a:ext cx="10104120" cy="11795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0" dirty="0">
                <a:solidFill>
                  <a:srgbClr val="1A1A1A"/>
                </a:solidFill>
                <a:latin typeface="Arial"/>
                <a:cs typeface="Arial"/>
              </a:rPr>
              <a:t>CHED requires state universities to uphold curriculum integrity, including prerequisite rules.</a:t>
            </a:r>
          </a:p>
        </p:txBody>
      </p:sp>
      <p:sp>
        <p:nvSpPr>
          <p:cNvPr id="107" name="Badge 107"/>
          <p:cNvSpPr/>
          <p:nvPr/>
        </p:nvSpPr>
        <p:spPr>
          <a:xfrm>
            <a:off x="685800" y="335584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8" name="Item 108"/>
          <p:cNvSpPr txBox="1"/>
          <p:nvPr/>
        </p:nvSpPr>
        <p:spPr>
          <a:xfrm>
            <a:off x="1417320" y="3017520"/>
            <a:ext cx="10104120" cy="11795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0" dirty="0">
                <a:solidFill>
                  <a:srgbClr val="1A1A1A"/>
                </a:solidFill>
                <a:latin typeface="Arial"/>
                <a:cs typeface="Arial"/>
              </a:rPr>
              <a:t>At KSU, prerequisites are still checked by hand by the program chairperson, even with the MIS in place.</a:t>
            </a:r>
          </a:p>
        </p:txBody>
      </p:sp>
      <p:sp>
        <p:nvSpPr>
          <p:cNvPr id="109" name="Badge 109"/>
          <p:cNvSpPr/>
          <p:nvPr/>
        </p:nvSpPr>
        <p:spPr>
          <a:xfrm>
            <a:off x="685800" y="468172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0" name="Item 110"/>
          <p:cNvSpPr txBox="1"/>
          <p:nvPr/>
        </p:nvSpPr>
        <p:spPr>
          <a:xfrm>
            <a:off x="1417320" y="4343400"/>
            <a:ext cx="10104120" cy="11795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0" dirty="0">
                <a:solidFill>
                  <a:srgbClr val="1A1A1A"/>
                </a:solidFill>
                <a:latin typeface="Arial"/>
                <a:cs typeface="Arial"/>
              </a:rPr>
              <a:t>Violations are often found late, at enrollment or just before graduation, delaying students and adding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377566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11" name="Title 111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AUDITRIX: THE PROPOSED SYSTEM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85800" y="1417320"/>
            <a:ext cx="108356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A web-based system that checks each student's grades against their curriculum.</a:t>
            </a:r>
          </a:p>
        </p:txBody>
      </p:sp>
      <p:sp>
        <p:nvSpPr>
          <p:cNvPr id="113" name="Card 113"/>
          <p:cNvSpPr/>
          <p:nvPr/>
        </p:nvSpPr>
        <p:spPr>
          <a:xfrm>
            <a:off x="685800" y="233172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Detects violations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Flags prerequisite, co-requisite and year-standing violations, with the reason.</a:t>
            </a:r>
          </a:p>
        </p:txBody>
      </p:sp>
      <p:sp>
        <p:nvSpPr>
          <p:cNvPr id="114" name="Card 114"/>
          <p:cNvSpPr/>
          <p:nvPr/>
        </p:nvSpPr>
        <p:spPr>
          <a:xfrm>
            <a:off x="4389120" y="233172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Shows what's next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Lists the subjects a student may take next and what is still needed.</a:t>
            </a:r>
          </a:p>
        </p:txBody>
      </p:sp>
      <p:sp>
        <p:nvSpPr>
          <p:cNvPr id="115" name="Card 115"/>
          <p:cNvSpPr/>
          <p:nvPr/>
        </p:nvSpPr>
        <p:spPr>
          <a:xfrm>
            <a:off x="8092440" y="2331720"/>
            <a:ext cx="3429000" cy="342900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Supports chairpersons and deans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Dashboards, curriculum versions, and student imports from the KSU-MIS export.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2144" y="-266330"/>
            <a:ext cx="12259330" cy="8167891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16" name="Title 116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STATEMENT OF THE PROBLEM</a:t>
            </a:r>
          </a:p>
        </p:txBody>
      </p:sp>
      <p:sp>
        <p:nvSpPr>
          <p:cNvPr id="117" name="Badge 117"/>
          <p:cNvSpPr/>
          <p:nvPr/>
        </p:nvSpPr>
        <p:spPr>
          <a:xfrm>
            <a:off x="685800" y="1696212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18" name="Item 118"/>
          <p:cNvSpPr txBox="1"/>
          <p:nvPr/>
        </p:nvSpPr>
        <p:spPr>
          <a:xfrm>
            <a:off x="1417320" y="1463040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What is the current process for evaluating students' prerequisite compliance with the curriculum?</a:t>
            </a:r>
          </a:p>
        </p:txBody>
      </p:sp>
      <p:sp>
        <p:nvSpPr>
          <p:cNvPr id="119" name="Badge 119"/>
          <p:cNvSpPr/>
          <p:nvPr/>
        </p:nvSpPr>
        <p:spPr>
          <a:xfrm>
            <a:off x="685800" y="281178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0" name="Item 120"/>
          <p:cNvSpPr txBox="1"/>
          <p:nvPr/>
        </p:nvSpPr>
        <p:spPr>
          <a:xfrm>
            <a:off x="1417320" y="2578608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What problems are encountered in evaluating students' prerequisite compliance with the curriculum?</a:t>
            </a:r>
          </a:p>
        </p:txBody>
      </p:sp>
      <p:sp>
        <p:nvSpPr>
          <p:cNvPr id="121" name="Badge 121"/>
          <p:cNvSpPr/>
          <p:nvPr/>
        </p:nvSpPr>
        <p:spPr>
          <a:xfrm>
            <a:off x="685800" y="392734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2" name="Item 122"/>
          <p:cNvSpPr txBox="1"/>
          <p:nvPr/>
        </p:nvSpPr>
        <p:spPr>
          <a:xfrm>
            <a:off x="1417320" y="3694176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How can a curriculum audit system be designed to ensure prerequisite compliance with the curriculum?</a:t>
            </a:r>
          </a:p>
        </p:txBody>
      </p:sp>
      <p:sp>
        <p:nvSpPr>
          <p:cNvPr id="123" name="Badge 123"/>
          <p:cNvSpPr/>
          <p:nvPr/>
        </p:nvSpPr>
        <p:spPr>
          <a:xfrm>
            <a:off x="685800" y="5042916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24" name="Item 124"/>
          <p:cNvSpPr txBox="1"/>
          <p:nvPr/>
        </p:nvSpPr>
        <p:spPr>
          <a:xfrm>
            <a:off x="1417320" y="4809744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What is the level of compliance of the proposed system with the ISO/IEC 25010 software quality standards?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62144" y="-266330"/>
            <a:ext cx="12259330" cy="8167891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25" name="Title 125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OBJECTIVES OF THE STUDY</a:t>
            </a:r>
          </a:p>
        </p:txBody>
      </p:sp>
      <p:sp>
        <p:nvSpPr>
          <p:cNvPr id="126" name="Badge 126"/>
          <p:cNvSpPr/>
          <p:nvPr/>
        </p:nvSpPr>
        <p:spPr>
          <a:xfrm>
            <a:off x="685800" y="1696212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7" name="Item 127"/>
          <p:cNvSpPr txBox="1"/>
          <p:nvPr/>
        </p:nvSpPr>
        <p:spPr>
          <a:xfrm>
            <a:off x="1417320" y="1463040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To identify the process for evaluating students' prerequisite compliance with the curriculum.</a:t>
            </a:r>
          </a:p>
        </p:txBody>
      </p:sp>
      <p:sp>
        <p:nvSpPr>
          <p:cNvPr id="128" name="Badge 128"/>
          <p:cNvSpPr/>
          <p:nvPr/>
        </p:nvSpPr>
        <p:spPr>
          <a:xfrm>
            <a:off x="685800" y="281178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9" name="Item 129"/>
          <p:cNvSpPr txBox="1"/>
          <p:nvPr/>
        </p:nvSpPr>
        <p:spPr>
          <a:xfrm>
            <a:off x="1417320" y="2578608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To determine the problems encountered in evaluating students' prerequisite compliance.</a:t>
            </a:r>
          </a:p>
        </p:txBody>
      </p:sp>
      <p:sp>
        <p:nvSpPr>
          <p:cNvPr id="130" name="Badge 130"/>
          <p:cNvSpPr/>
          <p:nvPr/>
        </p:nvSpPr>
        <p:spPr>
          <a:xfrm>
            <a:off x="685800" y="392734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1" name="Item 131"/>
          <p:cNvSpPr txBox="1"/>
          <p:nvPr/>
        </p:nvSpPr>
        <p:spPr>
          <a:xfrm>
            <a:off x="1417320" y="3694176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To design and develop a system that ensures prerequisite compliance with the curriculum.</a:t>
            </a:r>
          </a:p>
        </p:txBody>
      </p:sp>
      <p:sp>
        <p:nvSpPr>
          <p:cNvPr id="132" name="Badge 132"/>
          <p:cNvSpPr/>
          <p:nvPr/>
        </p:nvSpPr>
        <p:spPr>
          <a:xfrm>
            <a:off x="685800" y="5042916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33" name="Item 133"/>
          <p:cNvSpPr txBox="1"/>
          <p:nvPr/>
        </p:nvSpPr>
        <p:spPr>
          <a:xfrm>
            <a:off x="1417320" y="4809744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To evaluate the level of compliance of the system with the ISO/IEC 25010 software quality standards.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42909" y="-61152"/>
            <a:ext cx="12277817" cy="6980303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34" name="Title 134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SIGNIFICANCE OF THE STUDY</a:t>
            </a:r>
          </a:p>
        </p:txBody>
      </p:sp>
      <p:sp>
        <p:nvSpPr>
          <p:cNvPr id="135" name="Card 135"/>
          <p:cNvSpPr/>
          <p:nvPr/>
        </p:nvSpPr>
        <p:spPr>
          <a:xfrm>
            <a:off x="685800" y="14630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Program Chairpersons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Faster, automated checking of student eligibility.</a:t>
            </a:r>
          </a:p>
        </p:txBody>
      </p:sp>
      <p:sp>
        <p:nvSpPr>
          <p:cNvPr id="136" name="Card 136"/>
          <p:cNvSpPr/>
          <p:nvPr/>
        </p:nvSpPr>
        <p:spPr>
          <a:xfrm>
            <a:off x="4389120" y="14630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College Dean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A college-wide view of curriculum compliance.</a:t>
            </a:r>
          </a:p>
        </p:txBody>
      </p:sp>
      <p:sp>
        <p:nvSpPr>
          <p:cNvPr id="137" name="Card 137"/>
          <p:cNvSpPr/>
          <p:nvPr/>
        </p:nvSpPr>
        <p:spPr>
          <a:xfrm>
            <a:off x="8092440" y="14630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Students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Violations caught early for on-time graduation.</a:t>
            </a:r>
          </a:p>
        </p:txBody>
      </p:sp>
      <p:sp>
        <p:nvSpPr>
          <p:cNvPr id="138" name="Card 138"/>
          <p:cNvSpPr/>
          <p:nvPr/>
        </p:nvSpPr>
        <p:spPr>
          <a:xfrm>
            <a:off x="685800" y="38633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Institution (KSU/CEIT)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Supports CHED and accreditation standards.</a:t>
            </a:r>
          </a:p>
        </p:txBody>
      </p:sp>
      <p:sp>
        <p:nvSpPr>
          <p:cNvPr id="139" name="Card 139"/>
          <p:cNvSpPr/>
          <p:nvPr/>
        </p:nvSpPr>
        <p:spPr>
          <a:xfrm>
            <a:off x="4389120" y="38633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Researchers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Hands-on experience building a real system.</a:t>
            </a:r>
          </a:p>
        </p:txBody>
      </p:sp>
      <p:sp>
        <p:nvSpPr>
          <p:cNvPr id="140" name="Card 140"/>
          <p:cNvSpPr/>
          <p:nvPr/>
        </p:nvSpPr>
        <p:spPr>
          <a:xfrm>
            <a:off x="8092440" y="3863340"/>
            <a:ext cx="342900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6B33"/>
                </a:solidFill>
                <a:latin typeface="Arial"/>
                <a:cs typeface="Arial"/>
              </a:rPr>
              <a:t>Future Researchers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A reference for future academic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41" name="Title 141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SOFTWARE DEVELOPMENT METHODOLOGY</a:t>
            </a:r>
          </a:p>
        </p:txBody>
      </p:sp>
      <p:sp>
        <p:nvSpPr>
          <p:cNvPr id="142" name="Frame 142"/>
          <p:cNvSpPr/>
          <p:nvPr/>
        </p:nvSpPr>
        <p:spPr>
          <a:xfrm>
            <a:off x="2474555" y="1261872"/>
            <a:ext cx="7242586" cy="498348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endParaRPr lang="en-US" dirty="0"/>
          </a:p>
        </p:txBody>
      </p:sp>
      <p:pic>
        <p:nvPicPr>
          <p:cNvPr id="143" name="Iterative and Incremental SDLC 143"/>
          <p:cNvPicPr>
            <a:picLocks noChangeAspect="1"/>
          </p:cNvPicPr>
          <p:nvPr/>
        </p:nvPicPr>
        <p:blipFill>
          <a:blip r:embed="rIdSdlc"/>
          <a:stretch>
            <a:fillRect/>
          </a:stretch>
        </p:blipFill>
        <p:spPr>
          <a:xfrm>
            <a:off x="2565995" y="1353312"/>
            <a:ext cx="705970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44" name="Title 144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LOCALE AND POPULATION</a:t>
            </a:r>
          </a:p>
        </p:txBody>
      </p:sp>
      <p:sp>
        <p:nvSpPr>
          <p:cNvPr id="145" name="Card 145"/>
          <p:cNvSpPr/>
          <p:nvPr/>
        </p:nvSpPr>
        <p:spPr>
          <a:xfrm>
            <a:off x="685800" y="17373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900" b="1" dirty="0">
                <a:solidFill>
                  <a:srgbClr val="1F6B33"/>
                </a:solidFill>
                <a:latin typeface="Arial"/>
                <a:cs typeface="Arial"/>
              </a:rPr>
              <a:t>LOCALE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Kalinga State University (KSU), Main Campus, Bulanao, Tabuk City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College of Engineering and Information Technology (CEIT)</a:t>
            </a:r>
          </a:p>
        </p:txBody>
      </p:sp>
      <p:sp>
        <p:nvSpPr>
          <p:cNvPr id="146" name="Card 146"/>
          <p:cNvSpPr/>
          <p:nvPr/>
        </p:nvSpPr>
        <p:spPr>
          <a:xfrm>
            <a:off x="6263640" y="17373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900" b="1" dirty="0">
                <a:solidFill>
                  <a:srgbClr val="1F6B33"/>
                </a:solidFill>
                <a:latin typeface="Arial"/>
                <a:cs typeface="Arial"/>
              </a:rPr>
              <a:t>POPULATION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The six program chairpersons of the CEIT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IT experts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400" b="0" dirty="0">
                <a:solidFill>
                  <a:srgbClr val="1A1A1A"/>
                </a:solidFill>
                <a:latin typeface="Arial"/>
                <a:cs typeface="Arial"/>
              </a:rPr>
              <a:t>Students who experienced prerequisite violations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47" name="Title 147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DATA GATHERING</a:t>
            </a:r>
          </a:p>
        </p:txBody>
      </p:sp>
      <p:sp>
        <p:nvSpPr>
          <p:cNvPr id="148" name="Card 148"/>
          <p:cNvSpPr/>
          <p:nvPr/>
        </p:nvSpPr>
        <p:spPr>
          <a:xfrm>
            <a:off x="685800" y="160020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Techniques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Interviews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Document analysis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Survey (ISO/IEC 25010)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System testing</a:t>
            </a:r>
          </a:p>
        </p:txBody>
      </p:sp>
      <p:sp>
        <p:nvSpPr>
          <p:cNvPr id="149" name="Card 149"/>
          <p:cNvSpPr/>
          <p:nvPr/>
        </p:nvSpPr>
        <p:spPr>
          <a:xfrm>
            <a:off x="4389120" y="160020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Tools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Structured interview questionnaire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ISO/IEC 25010 survey questionnaire (paper-based)</a:t>
            </a:r>
          </a:p>
        </p:txBody>
      </p:sp>
      <p:sp>
        <p:nvSpPr>
          <p:cNvPr id="150" name="Card 150"/>
          <p:cNvSpPr/>
          <p:nvPr/>
        </p:nvSpPr>
        <p:spPr>
          <a:xfrm>
            <a:off x="8092440" y="1600200"/>
            <a:ext cx="3429000" cy="39319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6B33"/>
                </a:solidFill>
                <a:latin typeface="Arial"/>
                <a:cs typeface="Arial"/>
              </a:rPr>
              <a:t>Sources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Primary: chairpersons, IT experts, students</a:t>
            </a:r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Font typeface="Arial"/>
              <a:buChar char="•"/>
            </a:pPr>
            <a:r>
              <a:rPr lang="en-US" sz="2000" b="0" dirty="0">
                <a:solidFill>
                  <a:srgbClr val="1A1A1A"/>
                </a:solidFill>
                <a:latin typeface="Arial"/>
                <a:cs typeface="Arial"/>
              </a:rPr>
              <a:t>Secondary: curriculum maps, KSU Student Handbook and Operations Manual, MIS class lists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51" name="Title 151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SOFTWARE DEVELOPMENT TOOLS</a:t>
            </a:r>
          </a:p>
        </p:txBody>
      </p:sp>
      <p:sp>
        <p:nvSpPr>
          <p:cNvPr id="152" name="Card 152"/>
          <p:cNvSpPr/>
          <p:nvPr/>
        </p:nvSpPr>
        <p:spPr>
          <a:xfrm>
            <a:off x="685800" y="14630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Next.js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Web framework</a:t>
            </a:r>
          </a:p>
        </p:txBody>
      </p:sp>
      <p:sp>
        <p:nvSpPr>
          <p:cNvPr id="153" name="Card 153"/>
          <p:cNvSpPr/>
          <p:nvPr/>
        </p:nvSpPr>
        <p:spPr>
          <a:xfrm>
            <a:off x="3463290" y="14630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TypeScript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Programming language</a:t>
            </a:r>
          </a:p>
        </p:txBody>
      </p:sp>
      <p:sp>
        <p:nvSpPr>
          <p:cNvPr id="154" name="Card 154"/>
          <p:cNvSpPr/>
          <p:nvPr/>
        </p:nvSpPr>
        <p:spPr>
          <a:xfrm>
            <a:off x="6240780" y="14630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Tailwind CSS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Design and layout</a:t>
            </a:r>
          </a:p>
        </p:txBody>
      </p:sp>
      <p:sp>
        <p:nvSpPr>
          <p:cNvPr id="155" name="Card 155"/>
          <p:cNvSpPr/>
          <p:nvPr/>
        </p:nvSpPr>
        <p:spPr>
          <a:xfrm>
            <a:off x="9018270" y="14630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Supabase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PostgreSQL database and log in</a:t>
            </a:r>
          </a:p>
        </p:txBody>
      </p:sp>
      <p:sp>
        <p:nvSpPr>
          <p:cNvPr id="156" name="Card 156"/>
          <p:cNvSpPr/>
          <p:nvPr/>
        </p:nvSpPr>
        <p:spPr>
          <a:xfrm>
            <a:off x="685800" y="38633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Figma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UI design and prototypes</a:t>
            </a:r>
          </a:p>
        </p:txBody>
      </p:sp>
      <p:sp>
        <p:nvSpPr>
          <p:cNvPr id="157" name="Card 157"/>
          <p:cNvSpPr/>
          <p:nvPr/>
        </p:nvSpPr>
        <p:spPr>
          <a:xfrm>
            <a:off x="3463290" y="38633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Node.js Test Runner and Playwright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Automated testing</a:t>
            </a:r>
          </a:p>
        </p:txBody>
      </p:sp>
      <p:sp>
        <p:nvSpPr>
          <p:cNvPr id="158" name="Card 158"/>
          <p:cNvSpPr/>
          <p:nvPr/>
        </p:nvSpPr>
        <p:spPr>
          <a:xfrm>
            <a:off x="6240780" y="3863340"/>
            <a:ext cx="2503170" cy="21259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t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6B33"/>
                </a:solidFill>
                <a:latin typeface="Arial"/>
                <a:cs typeface="Arial"/>
              </a:rPr>
              <a:t>Git and GitHub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900" b="0" dirty="0">
                <a:solidFill>
                  <a:srgbClr val="1A1A1A"/>
                </a:solidFill>
                <a:latin typeface="Arial"/>
                <a:cs typeface="Arial"/>
              </a:rPr>
              <a:t>Version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198-3969-C04B-4079-91093658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56CE84-2292-555D-C6EB-B0C68D4F2AC9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itchFamily="34" charset="0"/>
              <a:ea typeface="+mn-ea"/>
              <a:cs typeface="Courier New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F0F4AE-677D-0748-3311-56249FE98018}"/>
              </a:ext>
            </a:extLst>
          </p:cNvPr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53EBBD-86D9-A5AE-8D22-C57EE2B0D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7724865-F3A7-3761-556D-98FB722C5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59" name="Title 159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KEY RESULTS AND FINDINGS</a:t>
            </a:r>
          </a:p>
        </p:txBody>
      </p:sp>
      <p:sp>
        <p:nvSpPr>
          <p:cNvPr id="160" name="SOP 160"/>
          <p:cNvSpPr/>
          <p:nvPr/>
        </p:nvSpPr>
        <p:spPr>
          <a:xfrm>
            <a:off x="685800" y="146304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SOP 1</a:t>
            </a:r>
          </a:p>
        </p:txBody>
      </p:sp>
      <p:sp>
        <p:nvSpPr>
          <p:cNvPr id="161" name="Card 161"/>
          <p:cNvSpPr/>
          <p:nvPr/>
        </p:nvSpPr>
        <p:spPr>
          <a:xfrm>
            <a:off x="2240280" y="1463040"/>
            <a:ext cx="9281160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1" dirty="0">
                <a:solidFill>
                  <a:srgbClr val="1F6B33"/>
                </a:solidFill>
                <a:latin typeface="Arial"/>
                <a:cs typeface="Arial"/>
              </a:rPr>
              <a:t>Existing process: </a:t>
            </a:r>
            <a:r>
              <a:rPr lang="en-US" sz="2200" b="0" dirty="0">
                <a:solidFill>
                  <a:srgbClr val="1A1A1A"/>
                </a:solidFill>
                <a:latin typeface="Arial"/>
                <a:cs typeface="Arial"/>
              </a:rPr>
              <a:t>Prerequisites are checked by hand, record by record, against the curriculum map.</a:t>
            </a:r>
          </a:p>
        </p:txBody>
      </p:sp>
      <p:sp>
        <p:nvSpPr>
          <p:cNvPr id="162" name="SOP 162"/>
          <p:cNvSpPr/>
          <p:nvPr/>
        </p:nvSpPr>
        <p:spPr>
          <a:xfrm>
            <a:off x="685800" y="260604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SOP 2</a:t>
            </a:r>
          </a:p>
        </p:txBody>
      </p:sp>
      <p:sp>
        <p:nvSpPr>
          <p:cNvPr id="163" name="Card 163"/>
          <p:cNvSpPr/>
          <p:nvPr/>
        </p:nvSpPr>
        <p:spPr>
          <a:xfrm>
            <a:off x="2240280" y="2606040"/>
            <a:ext cx="9281160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1" dirty="0">
                <a:solidFill>
                  <a:srgbClr val="1F6B33"/>
                </a:solidFill>
                <a:latin typeface="Arial"/>
                <a:cs typeface="Arial"/>
              </a:rPr>
              <a:t>Problems: </a:t>
            </a:r>
            <a:r>
              <a:rPr lang="en-US" sz="2200" b="0" dirty="0">
                <a:solidFill>
                  <a:srgbClr val="1A1A1A"/>
                </a:solidFill>
                <a:latin typeface="Arial"/>
                <a:cs typeface="Arial"/>
              </a:rPr>
              <a:t>Late detection of violations, no automated checking tool, and limited student awareness.</a:t>
            </a:r>
          </a:p>
        </p:txBody>
      </p:sp>
      <p:sp>
        <p:nvSpPr>
          <p:cNvPr id="164" name="SOP 164"/>
          <p:cNvSpPr/>
          <p:nvPr/>
        </p:nvSpPr>
        <p:spPr>
          <a:xfrm>
            <a:off x="685800" y="374904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SOP 3</a:t>
            </a:r>
          </a:p>
        </p:txBody>
      </p:sp>
      <p:sp>
        <p:nvSpPr>
          <p:cNvPr id="165" name="Card 165"/>
          <p:cNvSpPr/>
          <p:nvPr/>
        </p:nvSpPr>
        <p:spPr>
          <a:xfrm>
            <a:off x="2240280" y="3749040"/>
            <a:ext cx="9281160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1" dirty="0">
                <a:solidFill>
                  <a:srgbClr val="1F6B33"/>
                </a:solidFill>
                <a:latin typeface="Arial"/>
                <a:cs typeface="Arial"/>
              </a:rPr>
              <a:t>Proposed system: </a:t>
            </a:r>
            <a:r>
              <a:rPr lang="en-US" sz="2200" b="0" dirty="0">
                <a:solidFill>
                  <a:srgbClr val="1A1A1A"/>
                </a:solidFill>
                <a:latin typeface="Arial"/>
                <a:cs typeface="Arial"/>
              </a:rPr>
              <a:t>Auditrix checks every subject term by term and gives each one a status: Completed, Available, INC, Unavailable, or Violation.</a:t>
            </a:r>
          </a:p>
        </p:txBody>
      </p:sp>
      <p:sp>
        <p:nvSpPr>
          <p:cNvPr id="166" name="SOP 166"/>
          <p:cNvSpPr/>
          <p:nvPr/>
        </p:nvSpPr>
        <p:spPr>
          <a:xfrm>
            <a:off x="685800" y="4892040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SOP 4</a:t>
            </a:r>
          </a:p>
        </p:txBody>
      </p:sp>
      <p:sp>
        <p:nvSpPr>
          <p:cNvPr id="167" name="Card 167"/>
          <p:cNvSpPr/>
          <p:nvPr/>
        </p:nvSpPr>
        <p:spPr>
          <a:xfrm>
            <a:off x="2240280" y="4892040"/>
            <a:ext cx="9281160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1" dirty="0">
                <a:solidFill>
                  <a:srgbClr val="1F6B33"/>
                </a:solidFill>
                <a:latin typeface="Arial"/>
                <a:cs typeface="Arial"/>
              </a:rPr>
              <a:t>ISO/IEC 25010: </a:t>
            </a:r>
            <a:r>
              <a:rPr lang="en-US" sz="2200" b="0" dirty="0">
                <a:solidFill>
                  <a:srgbClr val="1A1A1A"/>
                </a:solidFill>
                <a:latin typeface="Arial"/>
                <a:cs typeface="Arial"/>
              </a:rPr>
              <a:t>Overall weighted mean of 4.48, interpreted as Very Great Extent.</a:t>
            </a:r>
          </a:p>
        </p:txBody>
      </p:sp>
    </p:spTree>
    <p:extLst>
      <p:ext uri="{BB962C8B-B14F-4D97-AF65-F5344CB8AC3E}">
        <p14:creationId xmlns:p14="http://schemas.microsoft.com/office/powerpoint/2010/main" val="158941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B7C66-13F1-E0A2-B99F-D8BE98B5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529894-0204-4B59-4EB3-B454A1DD9F52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itchFamily="34" charset="0"/>
              <a:ea typeface="+mn-ea"/>
              <a:cs typeface="Courier New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537336-BD49-4D31-E02B-71FC8E69C7C6}"/>
              </a:ext>
            </a:extLst>
          </p:cNvPr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671F852-7B16-A6F5-2DB4-6AE3340AD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9192455-6885-9935-5ECF-8F8CBB2F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68" name="Title 168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ISO/IEC 25010 EVALUATION RESULTS</a:t>
            </a:r>
          </a:p>
        </p:txBody>
      </p:sp>
      <p:graphicFrame>
        <p:nvGraphicFramePr>
          <p:cNvPr id="169" name="Table 169"/>
          <p:cNvGraphicFramePr>
            <a:graphicFrameLocks noGrp="1"/>
          </p:cNvGraphicFramePr>
          <p:nvPr/>
        </p:nvGraphicFramePr>
        <p:xfrm>
          <a:off x="685800" y="1371600"/>
          <a:ext cx="6675120" cy="4526280"/>
        </p:xfrm>
        <a:graphic>
          <a:graphicData uri="http://schemas.openxmlformats.org/drawingml/2006/table">
            <a:tbl>
              <a:tblPr firstRow="1" bandRow="0"/>
              <a:tblGrid>
                <a:gridCol w="2377440"/>
                <a:gridCol w="18288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Characteristic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6B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Weighted Mean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6B3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1F6B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Functionality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4.50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Efficiency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4.33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Compatibility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4.60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Usability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4.37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4.48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Security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4.44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Maintainability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4.52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Portability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4.57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Safety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4.50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Overall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4.48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Very great extent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70" name="Card 170"/>
          <p:cNvSpPr/>
          <p:nvPr/>
        </p:nvSpPr>
        <p:spPr>
          <a:xfrm>
            <a:off x="7726680" y="137160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164592" tIns="115214" rIns="164592" bIns="115214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7200" b="1" dirty="0">
                <a:solidFill>
                  <a:srgbClr val="1F6B33"/>
                </a:solidFill>
                <a:latin typeface="Arial Black"/>
                <a:cs typeface="Arial Black"/>
              </a:rPr>
              <a:t>4.48</a:t>
            </a:r>
          </a:p>
          <a:p>
            <a:pPr algn="ctr"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/>
                <a:cs typeface="Arial"/>
              </a:rPr>
              <a:t>Overall weighted mean</a:t>
            </a:r>
          </a:p>
          <a:p>
            <a:pPr algn="ctr" marL="0" indent="0">
              <a:lnSpc>
                <a:spcPct val="100000"/>
              </a:lnSpc>
              <a:spcAft>
                <a:spcPts val="1400"/>
              </a:spcAft>
              <a:buNone/>
            </a:pPr>
            <a:r>
              <a:rPr lang="en-US" sz="2400" b="0" dirty="0">
                <a:solidFill>
                  <a:srgbClr val="1F6B33"/>
                </a:solidFill>
                <a:latin typeface="Arial"/>
                <a:cs typeface="Arial"/>
              </a:rPr>
              <a:t>Very Great Extent</a:t>
            </a:r>
          </a:p>
          <a:p>
            <a:pPr algn="ctr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800" b="0" dirty="0">
                <a:solidFill>
                  <a:srgbClr val="1A1A1A"/>
                </a:solidFill>
                <a:latin typeface="Arial"/>
                <a:cs typeface="Arial"/>
              </a:rPr>
              <a:t>Highest: Compatibility (4.60)</a:t>
            </a:r>
          </a:p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800" b="0" dirty="0">
                <a:solidFill>
                  <a:srgbClr val="1A1A1A"/>
                </a:solidFill>
                <a:latin typeface="Arial"/>
                <a:cs typeface="Arial"/>
              </a:rPr>
              <a:t>Lowest: Efficiency (4.33)</a:t>
            </a:r>
          </a:p>
        </p:txBody>
      </p:sp>
    </p:spTree>
    <p:extLst>
      <p:ext uri="{BB962C8B-B14F-4D97-AF65-F5344CB8AC3E}">
        <p14:creationId xmlns:p14="http://schemas.microsoft.com/office/powerpoint/2010/main" val="71703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2EDF0-4773-5F0E-84A5-1F9FE4ED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912684-A54F-B414-D96A-C9AFEC7AB319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itchFamily="34" charset="0"/>
              <a:ea typeface="+mn-ea"/>
              <a:cs typeface="Courier New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56BE5D-1EBA-9304-E948-152D77A72E12}"/>
              </a:ext>
            </a:extLst>
          </p:cNvPr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241FEE-2ACC-088C-6CC3-74FE7ACE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E2EB691-8A58-C24F-0657-FE83E25C9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71" name="Title 171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CONCLUSIONS</a:t>
            </a:r>
          </a:p>
        </p:txBody>
      </p:sp>
      <p:sp>
        <p:nvSpPr>
          <p:cNvPr id="172" name="Badge 172"/>
          <p:cNvSpPr/>
          <p:nvPr/>
        </p:nvSpPr>
        <p:spPr>
          <a:xfrm>
            <a:off x="685800" y="1696212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73" name="Item 173"/>
          <p:cNvSpPr txBox="1"/>
          <p:nvPr/>
        </p:nvSpPr>
        <p:spPr>
          <a:xfrm>
            <a:off x="1417320" y="1463040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A1A1A"/>
                </a:solidFill>
                <a:latin typeface="Arial"/>
                <a:cs typeface="Arial"/>
              </a:rPr>
              <a:t>The existing curriculum audit is manual and prone to human error.</a:t>
            </a:r>
          </a:p>
        </p:txBody>
      </p:sp>
      <p:sp>
        <p:nvSpPr>
          <p:cNvPr id="174" name="Badge 174"/>
          <p:cNvSpPr/>
          <p:nvPr/>
        </p:nvSpPr>
        <p:spPr>
          <a:xfrm>
            <a:off x="685800" y="281178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75" name="Item 175"/>
          <p:cNvSpPr txBox="1"/>
          <p:nvPr/>
        </p:nvSpPr>
        <p:spPr>
          <a:xfrm>
            <a:off x="1417320" y="2578608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A1A1A"/>
                </a:solidFill>
                <a:latin typeface="Arial"/>
                <a:cs typeface="Arial"/>
              </a:rPr>
              <a:t>Violations are found late because nothing checks grades against the curriculum before enrollment.</a:t>
            </a:r>
          </a:p>
        </p:txBody>
      </p:sp>
      <p:sp>
        <p:nvSpPr>
          <p:cNvPr id="176" name="Badge 176"/>
          <p:cNvSpPr/>
          <p:nvPr/>
        </p:nvSpPr>
        <p:spPr>
          <a:xfrm>
            <a:off x="685800" y="3927348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77" name="Item 177"/>
          <p:cNvSpPr txBox="1"/>
          <p:nvPr/>
        </p:nvSpPr>
        <p:spPr>
          <a:xfrm>
            <a:off x="1417320" y="3694176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A1A1A"/>
                </a:solidFill>
                <a:latin typeface="Arial"/>
                <a:cs typeface="Arial"/>
              </a:rPr>
              <a:t>Auditrix flags violations as soon as grades are entered, before enrollment instead of at graduation.</a:t>
            </a:r>
          </a:p>
        </p:txBody>
      </p:sp>
      <p:sp>
        <p:nvSpPr>
          <p:cNvPr id="178" name="Badge 178"/>
          <p:cNvSpPr/>
          <p:nvPr/>
        </p:nvSpPr>
        <p:spPr>
          <a:xfrm>
            <a:off x="685800" y="5042916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9" name="Item 179"/>
          <p:cNvSpPr txBox="1"/>
          <p:nvPr/>
        </p:nvSpPr>
        <p:spPr>
          <a:xfrm>
            <a:off x="1417320" y="4809744"/>
            <a:ext cx="10104120" cy="969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A1A1A"/>
                </a:solidFill>
                <a:latin typeface="Arial"/>
                <a:cs typeface="Arial"/>
              </a:rPr>
              <a:t>Auditrix complies with ISO/IEC 25010 to a very great extent (4.48).</a:t>
            </a:r>
          </a:p>
        </p:txBody>
      </p:sp>
    </p:spTree>
    <p:extLst>
      <p:ext uri="{BB962C8B-B14F-4D97-AF65-F5344CB8AC3E}">
        <p14:creationId xmlns:p14="http://schemas.microsoft.com/office/powerpoint/2010/main" val="344548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EC93A-9B2F-1DDD-EE1B-7104A47F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1D21BC-2F4F-CBD5-3F6A-5FA49F7A11E3}"/>
              </a:ext>
            </a:extLst>
          </p:cNvPr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itchFamily="34" charset="0"/>
              <a:ea typeface="+mn-ea"/>
              <a:cs typeface="Courier New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494691-3B02-1380-04D7-625C24C43C31}"/>
              </a:ext>
            </a:extLst>
          </p:cNvPr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B2DE0D-A645-DDF0-7EB1-9F88FF432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BB0DDF-6B59-DF74-E8F7-A862C3BC2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180" name="Title 180"/>
          <p:cNvSpPr txBox="1"/>
          <p:nvPr/>
        </p:nvSpPr>
        <p:spPr>
          <a:xfrm>
            <a:off x="2514600" y="384048"/>
            <a:ext cx="9098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/>
                <a:cs typeface="Arial Black"/>
              </a:rPr>
              <a:t>RECOMMENDATIONS</a:t>
            </a:r>
          </a:p>
        </p:txBody>
      </p:sp>
      <p:sp>
        <p:nvSpPr>
          <p:cNvPr id="181" name="Badge 181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2" name="Item 182"/>
          <p:cNvSpPr txBox="1"/>
          <p:nvPr/>
        </p:nvSpPr>
        <p:spPr>
          <a:xfrm>
            <a:off x="1371600" y="150876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Deploy Auditrix on a hosted online server.</a:t>
            </a:r>
          </a:p>
        </p:txBody>
      </p:sp>
      <p:sp>
        <p:nvSpPr>
          <p:cNvPr id="183" name="Badge 183"/>
          <p:cNvSpPr/>
          <p:nvPr/>
        </p:nvSpPr>
        <p:spPr>
          <a:xfrm>
            <a:off x="685800" y="278892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4" name="Item 184"/>
          <p:cNvSpPr txBox="1"/>
          <p:nvPr/>
        </p:nvSpPr>
        <p:spPr>
          <a:xfrm>
            <a:off x="1371600" y="260604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Improve user error protection.</a:t>
            </a:r>
          </a:p>
        </p:txBody>
      </p:sp>
      <p:sp>
        <p:nvSpPr>
          <p:cNvPr id="185" name="Badge 185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86" name="Item 186"/>
          <p:cNvSpPr txBox="1"/>
          <p:nvPr/>
        </p:nvSpPr>
        <p:spPr>
          <a:xfrm>
            <a:off x="1371600" y="3703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Optimize performance for larger student populations.</a:t>
            </a:r>
          </a:p>
        </p:txBody>
      </p:sp>
      <p:sp>
        <p:nvSpPr>
          <p:cNvPr id="187" name="Badge 187"/>
          <p:cNvSpPr/>
          <p:nvPr/>
        </p:nvSpPr>
        <p:spPr>
          <a:xfrm>
            <a:off x="685800" y="498348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88" name="Item 188"/>
          <p:cNvSpPr txBox="1"/>
          <p:nvPr/>
        </p:nvSpPr>
        <p:spPr>
          <a:xfrm>
            <a:off x="1371600" y="480060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Expand to the other KSU colleges.</a:t>
            </a:r>
          </a:p>
        </p:txBody>
      </p:sp>
      <p:sp>
        <p:nvSpPr>
          <p:cNvPr id="189" name="Badge 189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90" name="Item 190"/>
          <p:cNvSpPr txBox="1"/>
          <p:nvPr/>
        </p:nvSpPr>
        <p:spPr>
          <a:xfrm>
            <a:off x="6949440" y="150876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Connect Auditrix directly with the KSU MIS.</a:t>
            </a:r>
          </a:p>
        </p:txBody>
      </p:sp>
      <p:sp>
        <p:nvSpPr>
          <p:cNvPr id="191" name="Badge 191"/>
          <p:cNvSpPr/>
          <p:nvPr/>
        </p:nvSpPr>
        <p:spPr>
          <a:xfrm>
            <a:off x="6263640" y="278892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92" name="Item 192"/>
          <p:cNvSpPr txBox="1"/>
          <p:nvPr/>
        </p:nvSpPr>
        <p:spPr>
          <a:xfrm>
            <a:off x="6949440" y="260604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Add a student view for self-auditing.</a:t>
            </a:r>
          </a:p>
        </p:txBody>
      </p:sp>
      <p:sp>
        <p:nvSpPr>
          <p:cNvPr id="193" name="Badge 193"/>
          <p:cNvSpPr/>
          <p:nvPr/>
        </p:nvSpPr>
        <p:spPr>
          <a:xfrm>
            <a:off x="6263640" y="3886200"/>
            <a:ext cx="502920" cy="502920"/>
          </a:xfrm>
          <a:prstGeom prst="ellipse">
            <a:avLst/>
          </a:prstGeom>
          <a:solidFill>
            <a:srgbClr val="1F6B33">
              <a:alpha val="100000"/>
            </a:srgbClr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94" name="Item 194"/>
          <p:cNvSpPr txBox="1"/>
          <p:nvPr/>
        </p:nvSpPr>
        <p:spPr>
          <a:xfrm>
            <a:off x="6949440" y="3703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300" b="0" dirty="0">
                <a:solidFill>
                  <a:srgbClr val="1A1A1A"/>
                </a:solidFill>
                <a:latin typeface="Arial"/>
                <a:cs typeface="Arial"/>
              </a:rPr>
              <a:t>Explore predictive analytics in future studies.</a:t>
            </a:r>
          </a:p>
        </p:txBody>
      </p:sp>
    </p:spTree>
    <p:extLst>
      <p:ext uri="{BB962C8B-B14F-4D97-AF65-F5344CB8AC3E}">
        <p14:creationId xmlns:p14="http://schemas.microsoft.com/office/powerpoint/2010/main" val="4038867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17000">
                <a:schemeClr val="accent1">
                  <a:lumMod val="5000"/>
                  <a:lumOff val="95000"/>
                </a:schemeClr>
              </a:gs>
              <a:gs pos="92000">
                <a:schemeClr val="accent6"/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3600" b="1" dirty="0">
              <a:latin typeface="Arial Black" pitchFamily="34" charset="0"/>
              <a:cs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36382" y="228600"/>
            <a:ext cx="2202018" cy="1082040"/>
            <a:chOff x="363415" y="4928591"/>
            <a:chExt cx="3160331" cy="162460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2807" b="95953" l="3460" r="95692">
                          <a14:foregroundMark x1="79308" y1="24217" x2="79308" y2="24217"/>
                          <a14:foregroundMark x1="28590" y1="14164" x2="28590" y2="14164"/>
                          <a14:foregroundMark x1="29504" y1="15144" x2="29504" y2="15144"/>
                          <a14:foregroundMark x1="49543" y1="2807" x2="49543" y2="2807"/>
                          <a14:foregroundMark x1="31136" y1="69778" x2="31136" y2="69778"/>
                          <a14:foregroundMark x1="52807" y1="77415" x2="52807" y2="77415"/>
                          <a14:foregroundMark x1="52807" y1="77415" x2="52807" y2="77415"/>
                          <a14:foregroundMark x1="59073" y1="78590" x2="59073" y2="78590"/>
                          <a14:foregroundMark x1="57833" y1="76697" x2="57833" y2="76697"/>
                          <a14:foregroundMark x1="87076" y1="75131" x2="87076" y2="75131"/>
                          <a14:foregroundMark x1="90405" y1="62728" x2="90405" y2="62728"/>
                          <a14:foregroundMark x1="92950" y1="57311" x2="92950" y2="57311"/>
                          <a14:foregroundMark x1="87010" y1="62794" x2="87010" y2="62794"/>
                          <a14:foregroundMark x1="90209" y1="65666" x2="90209" y2="65666"/>
                          <a14:foregroundMark x1="90209" y1="65666" x2="90209" y2="65666"/>
                          <a14:foregroundMark x1="87337" y1="67167" x2="87337" y2="67167"/>
                          <a14:foregroundMark x1="87337" y1="67167" x2="87337" y2="67167"/>
                          <a14:foregroundMark x1="82050" y1="69060" x2="92755" y2="65601"/>
                          <a14:foregroundMark x1="84204" y1="70627" x2="84204" y2="70627"/>
                          <a14:foregroundMark x1="89687" y1="58094" x2="88446" y2="58225"/>
                          <a14:foregroundMark x1="85966" y1="33225" x2="95757" y2="49086"/>
                          <a14:foregroundMark x1="95757" y1="49086" x2="91253" y2="70366"/>
                          <a14:foregroundMark x1="7833" y1="32833" x2="7572" y2="61619"/>
                          <a14:foregroundMark x1="3460" y1="47650" x2="6136" y2="58420"/>
                          <a14:foregroundMark x1="32245" y1="90992" x2="53133" y2="92298"/>
                          <a14:foregroundMark x1="53133" y1="92298" x2="69191" y2="91253"/>
                          <a14:foregroundMark x1="9595" y1="68016" x2="24151" y2="87533"/>
                          <a14:foregroundMark x1="43016" y1="95953" x2="43016" y2="95953"/>
                          <a14:foregroundMark x1="51762" y1="78198" x2="51762" y2="78198"/>
                          <a14:foregroundMark x1="46540" y1="77937" x2="46540" y2="77937"/>
                          <a14:foregroundMark x1="31332" y1="68668" x2="35770" y2="69386"/>
                          <a14:foregroundMark x1="45757" y1="76501" x2="46671" y2="79373"/>
                          <a14:foregroundMark x1="53133" y1="76110" x2="52089" y2="80026"/>
                          <a14:backgroundMark x1="11619" y1="10901" x2="11619" y2="10901"/>
                          <a14:backgroundMark x1="92298" y1="3721" x2="92298" y2="3721"/>
                          <a14:backgroundMark x1="6984" y1="91188" x2="6984" y2="911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15" y="5017477"/>
              <a:ext cx="1535722" cy="1535722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34" b="96037" l="8537" r="88720">
                          <a14:foregroundMark x1="29878" y1="90244" x2="66463" y2="93293"/>
                          <a14:foregroundMark x1="66463" y1="93293" x2="68902" y2="92378"/>
                          <a14:foregroundMark x1="41463" y1="96037" x2="60061" y2="95122"/>
                          <a14:foregroundMark x1="89329" y1="50610" x2="88720" y2="68293"/>
                          <a14:foregroundMark x1="47561" y1="7927" x2="47561" y2="7927"/>
                          <a14:foregroundMark x1="43902" y1="3963" x2="43902" y2="3963"/>
                          <a14:foregroundMark x1="55793" y1="2134" x2="55793" y2="213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9138" y="4928591"/>
              <a:ext cx="1624608" cy="1624608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259922" y="2549737"/>
            <a:ext cx="83118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b="1" dirty="0">
                <a:latin typeface="Arial Black" pitchFamily="34" charset="0"/>
                <a:cs typeface="Courier New" pitchFamily="49" charset="0"/>
              </a:rPr>
              <a:t>THANK YOU FOR YOUR TIME, MA’AMS AND SIR!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1006</Words>
  <Application>Microsoft Office PowerPoint</Application>
  <PresentationFormat>Widescreen</PresentationFormat>
  <Paragraphs>119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crystelmaedelacueva05.z@gmail.com</cp:lastModifiedBy>
  <cp:revision>27</cp:revision>
  <dcterms:created xsi:type="dcterms:W3CDTF">1900-01-01T00:00:00Z</dcterms:created>
  <dcterms:modified xsi:type="dcterms:W3CDTF">2026-10-22T05:29:55Z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687BA8AF6EF53706E7F2C86913F2A24B_33</vt:lpwstr>
  </property>
  <property fmtid="{D5CDD505-2E9C-101B-9397-08002B2CF9AE}" pid="3" name="KSOProductBuildVer">
    <vt:lpwstr>3081-26.9.2</vt:lpwstr>
  </property>
</Properties>
</file>